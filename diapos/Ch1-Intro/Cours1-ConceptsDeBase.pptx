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4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355" r:id="rId4"/>
    <p:sldId id="356" r:id="rId5"/>
    <p:sldId id="354" r:id="rId6"/>
    <p:sldId id="358" r:id="rId7"/>
    <p:sldId id="357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5355"/>
    <a:srgbClr val="7B3032"/>
    <a:srgbClr val="094D51"/>
    <a:srgbClr val="A07532"/>
    <a:srgbClr val="D19941"/>
    <a:srgbClr val="FCB8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æ·±è²æ ·å¼ 1 - å¼ºè°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ä¸­åº¦æ ·å¼ 2 - å¼ºè°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99"/>
    <p:restoredTop sz="80428"/>
  </p:normalViewPr>
  <p:slideViewPr>
    <p:cSldViewPr snapToGrid="0" snapToObjects="1">
      <p:cViewPr varScale="1">
        <p:scale>
          <a:sx n="90" d="100"/>
          <a:sy n="90" d="100"/>
        </p:scale>
        <p:origin x="584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452EA0-3D06-C44D-B441-28D581164DA0}" type="datetimeFigureOut">
              <a:rPr lang="fr-CA" smtClean="0"/>
              <a:t>2023-02-06</a:t>
            </a:fld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EE797A-0374-7541-B10C-6484F481116F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55C4A8-B7CA-C946-83FA-2FDB8CCF32A1}" type="datetimeFigureOut">
              <a:rPr lang="fr-CA" smtClean="0"/>
              <a:t>2023-02-06</a:t>
            </a:fld>
            <a:endParaRPr lang="fr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FCBC3F-B6C5-A445-A677-9F13678E194F}" type="slidenum">
              <a:rPr lang="fr-CA" smtClean="0"/>
              <a:t>‹#›</a:t>
            </a:fld>
            <a:endParaRPr lang="fr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FCBC3F-B6C5-A445-A677-9F13678E194F}" type="slidenum">
              <a:rPr lang="fr-CA" smtClean="0"/>
              <a:t>1</a:t>
            </a:fld>
            <a:endParaRPr lang="fr-CA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Comme pour la construction d’une maison, la construction d’une application Web met en œuvre plusieurs compétences et nécessite des préoccupations différentes. </a:t>
            </a:r>
          </a:p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FCBC3F-B6C5-A445-A677-9F13678E194F}" type="slidenum">
              <a:rPr lang="fr-CA" smtClean="0"/>
              <a:t>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65806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C2C0C-4991-024F-8283-BAC6D8933E97}" type="datetime1">
              <a:rPr lang="en-CA" smtClean="0"/>
              <a:t>2023-02-06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r>
              <a:rPr lang="en-US"/>
              <a:t>© Anis Boubaker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AC92453-1618-51D0-6E90-A4F96116330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581987" y="3847986"/>
            <a:ext cx="1938867" cy="111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203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9CC26-F516-DD44-82A9-83414C3AC26E}" type="datetime1">
              <a:rPr lang="en-CA" smtClean="0"/>
              <a:t>2023-02-06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Anis Boubaker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704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26ADEC65-8A4B-4347-924C-C5C5F6277120}" type="datetime1">
              <a:rPr lang="en-CA" smtClean="0"/>
              <a:t>2023-02-06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© Anis Boubaker</a:t>
            </a:r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DA039F1-A537-639C-0594-E6BB4FC415A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/>
          <a:stretch>
            <a:fillRect/>
          </a:stretch>
        </p:blipFill>
        <p:spPr>
          <a:xfrm>
            <a:off x="8435622" y="6272785"/>
            <a:ext cx="666810" cy="383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00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E3D56-319E-4344-9B57-079050F91951}" type="datetime1">
              <a:rPr lang="en-CA" smtClean="0"/>
              <a:t>2023-02-06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Anis Boubaker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301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3FC05-0659-DD4F-85C7-F2FAE1F1517C}" type="datetime1">
              <a:rPr lang="en-CA" smtClean="0"/>
              <a:t>2023-02-06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Anis Boubaker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644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1BC72E72-6CAD-9D4C-BDD8-7735E3A706FC}" type="datetime1">
              <a:rPr lang="en-CA" smtClean="0"/>
              <a:t>2023-02-06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© Anis Boubaker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91476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EA112-BB39-1A41-900A-7326E260E915}" type="datetime1">
              <a:rPr lang="en-CA" smtClean="0"/>
              <a:t>2023-02-06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Anis Boubaker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521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C92D9-3B4F-2141-887A-5B3B7444E198}" type="datetime1">
              <a:rPr lang="en-CA" smtClean="0"/>
              <a:t>2023-02-06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Anis Boubaker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05EABD-7106-166C-A79D-BA85D35EC14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/>
          <a:stretch>
            <a:fillRect/>
          </a:stretch>
        </p:blipFill>
        <p:spPr>
          <a:xfrm>
            <a:off x="8435622" y="6272785"/>
            <a:ext cx="666810" cy="383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524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1EA21-0B6E-0741-8256-54DDEB2EC1B1}" type="datetime1">
              <a:rPr lang="en-CA" smtClean="0"/>
              <a:t>2023-02-06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CB6D0D-5D0C-BC10-84AB-9559906837B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/>
          <a:stretch>
            <a:fillRect/>
          </a:stretch>
        </p:blipFill>
        <p:spPr>
          <a:xfrm>
            <a:off x="8435622" y="6272785"/>
            <a:ext cx="666810" cy="383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300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4FABC-C453-E44F-9FFC-573EAD87BFB5}" type="datetime1">
              <a:rPr lang="en-CA" smtClean="0"/>
              <a:t>2023-02-06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Anis Boubaker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529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BBEFD-8F45-4146-8E55-75E39362BFB4}" type="datetime1">
              <a:rPr lang="en-CA" smtClean="0"/>
              <a:t>2023-02-06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Anis Boubaker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382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B65CB76-A926-D343-B1C9-02616D789DC8}" type="datetime1">
              <a:rPr lang="en-CA" smtClean="0"/>
              <a:t>2023-02-06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© Anis Boubaker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2BDEC5-71B6-FBFE-1720-0A9DD277C536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screen"/>
          <a:stretch>
            <a:fillRect/>
          </a:stretch>
        </p:blipFill>
        <p:spPr>
          <a:xfrm>
            <a:off x="8492067" y="6284074"/>
            <a:ext cx="596626" cy="350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770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18.png"/><Relationship Id="rId7" Type="http://schemas.openxmlformats.org/officeDocument/2006/relationships/image" Target="../media/image22.sv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10.png"/><Relationship Id="rId5" Type="http://schemas.openxmlformats.org/officeDocument/2006/relationships/image" Target="../media/image20.sv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19.png"/><Relationship Id="rId9" Type="http://schemas.openxmlformats.org/officeDocument/2006/relationships/image" Target="../media/image24.svg"/><Relationship Id="rId1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www.youtube.com/watch?v=eV-kARtgxkM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CA" sz="4800" dirty="0"/>
              <a:t>TCH056 – Programmation Web</a:t>
            </a:r>
            <a:br>
              <a:rPr lang="fr-CA" dirty="0"/>
            </a:br>
            <a:r>
              <a:rPr lang="fr-CA" sz="5400" dirty="0"/>
              <a:t>Ch1 - 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CA" dirty="0"/>
              <a:t>Anis Boubaker, </a:t>
            </a:r>
            <a:r>
              <a:rPr lang="fr-CA" dirty="0" err="1"/>
              <a:t>Ph.D</a:t>
            </a:r>
            <a:r>
              <a:rPr lang="fr-CA" dirty="0"/>
              <a:t>.</a:t>
            </a:r>
            <a:br>
              <a:rPr lang="fr-CA" dirty="0"/>
            </a:br>
            <a:r>
              <a:rPr lang="fr-CA" dirty="0"/>
              <a:t>Maître d’enseignement</a:t>
            </a:r>
            <a:br>
              <a:rPr lang="fr-CA" dirty="0"/>
            </a:br>
            <a:r>
              <a:rPr lang="fr-CA" dirty="0"/>
              <a:t>École de Technologie Supérieure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7B6112-724E-5B49-8DF5-52D0F3232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Anis Boubaker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Plan de la séance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Bref historique du Web</a:t>
            </a:r>
          </a:p>
          <a:p>
            <a:r>
              <a:rPr lang="fr-CA" dirty="0"/>
              <a:t>Les technologies et les langages du Web</a:t>
            </a:r>
          </a:p>
          <a:p>
            <a:endParaRPr lang="fr-CA" dirty="0"/>
          </a:p>
          <a:p>
            <a:r>
              <a:rPr lang="fr-CA" dirty="0"/>
              <a:t>TCH056 en 10mn (survol du cours)</a:t>
            </a:r>
          </a:p>
          <a:p>
            <a:endParaRPr lang="fr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3A5E02-7B42-0B4E-B890-62BA89080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Anis Boubaker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5F6C9-2B7C-15D8-18EC-7A1919261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8460" y="1783959"/>
            <a:ext cx="3065480" cy="288911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700" dirty="0" err="1">
                <a:solidFill>
                  <a:schemeClr val="tx1"/>
                </a:solidFill>
              </a:rPr>
              <a:t>Histoire</a:t>
            </a:r>
            <a:r>
              <a:rPr lang="en-US" sz="4700" dirty="0">
                <a:solidFill>
                  <a:schemeClr val="tx1"/>
                </a:solidFill>
              </a:rPr>
              <a:t> du Web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631F52-0BA8-5AA7-F45C-02EA1DA6D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230"/>
            <a:ext cx="3065478" cy="3657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kern="1200" dirty="0">
                <a:solidFill>
                  <a:schemeClr val="tx1">
                    <a:alpha val="80000"/>
                  </a:schemeClr>
                </a:solidFill>
                <a:latin typeface="Calibri" panose="020F0502020204030204"/>
                <a:ea typeface="+mn-ea"/>
                <a:cs typeface="+mn-cs"/>
              </a:rPr>
              <a:t>© Anis </a:t>
            </a:r>
            <a:r>
              <a:rPr lang="en-US" kern="1200" dirty="0" err="1">
                <a:solidFill>
                  <a:schemeClr val="tx1">
                    <a:alpha val="80000"/>
                  </a:schemeClr>
                </a:solidFill>
                <a:latin typeface="Calibri" panose="020F0502020204030204"/>
                <a:ea typeface="+mn-ea"/>
                <a:cs typeface="+mn-cs"/>
              </a:rPr>
              <a:t>Boubaker</a:t>
            </a:r>
            <a:endParaRPr lang="en-US" kern="1200" dirty="0">
              <a:solidFill>
                <a:schemeClr val="tx1">
                  <a:alpha val="80000"/>
                </a:scheme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 descr="Pile de journaux">
            <a:extLst>
              <a:ext uri="{FF2B5EF4-FFF2-40B4-BE49-F238E27FC236}">
                <a16:creationId xmlns:a16="http://schemas.microsoft.com/office/drawing/2014/main" id="{1FA43B9D-B815-3597-7FA9-AE91196CE4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754" r="27987" b="2"/>
          <a:stretch/>
        </p:blipFill>
        <p:spPr>
          <a:xfrm>
            <a:off x="20" y="10"/>
            <a:ext cx="5271352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3066215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5" descr="Sphère de filet et boutons">
            <a:extLst>
              <a:ext uri="{FF2B5EF4-FFF2-40B4-BE49-F238E27FC236}">
                <a16:creationId xmlns:a16="http://schemas.microsoft.com/office/drawing/2014/main" id="{F07F1509-BEC1-3A5F-0CA9-6AA647EA9B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-2285" y="10"/>
            <a:ext cx="914399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B4D1CA-AB83-93C9-E67D-46D3DEA53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" y="75341"/>
            <a:ext cx="7543800" cy="68564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fr-CA" sz="4500" dirty="0">
                <a:solidFill>
                  <a:srgbClr val="FFFFFF"/>
                </a:solidFill>
              </a:rPr>
              <a:t>Technologies et langages du Web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F0AADF-100B-BBB1-C556-1FD0A4EE4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842962" y="648147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fr-CA" sz="1200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© Anis Boubaker</a:t>
            </a:r>
          </a:p>
        </p:txBody>
      </p:sp>
      <p:pic>
        <p:nvPicPr>
          <p:cNvPr id="5" name="Picture 4" descr="A picture containing text, first-aid kit, sign&#10;&#10;Description automatically generated">
            <a:extLst>
              <a:ext uri="{FF2B5EF4-FFF2-40B4-BE49-F238E27FC236}">
                <a16:creationId xmlns:a16="http://schemas.microsoft.com/office/drawing/2014/main" id="{03297C30-5EEE-D554-5D9E-8E3B969D68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35" y="3545926"/>
            <a:ext cx="622300" cy="622300"/>
          </a:xfrm>
          <a:prstGeom prst="rect">
            <a:avLst/>
          </a:prstGeom>
        </p:spPr>
      </p:pic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71025BA5-B3C8-1962-EE7C-8297D6D2D2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6589" y="2549416"/>
            <a:ext cx="550800" cy="776628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AF16A4B2-48A6-0DF5-68E3-1C2CE06FBBF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69" r="14269"/>
          <a:stretch/>
        </p:blipFill>
        <p:spPr>
          <a:xfrm>
            <a:off x="334729" y="1826008"/>
            <a:ext cx="612000" cy="856402"/>
          </a:xfrm>
          <a:prstGeom prst="rect">
            <a:avLst/>
          </a:prstGeom>
        </p:spPr>
      </p:pic>
      <p:pic>
        <p:nvPicPr>
          <p:cNvPr id="9" name="Picture 8" descr="Shape&#10;&#10;Description automatically generated with low confidence">
            <a:extLst>
              <a:ext uri="{FF2B5EF4-FFF2-40B4-BE49-F238E27FC236}">
                <a16:creationId xmlns:a16="http://schemas.microsoft.com/office/drawing/2014/main" id="{48F36AD0-9565-69BB-BABF-64FF22A675A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337" b="34335"/>
          <a:stretch/>
        </p:blipFill>
        <p:spPr>
          <a:xfrm>
            <a:off x="-4570" y="1555092"/>
            <a:ext cx="1290599" cy="313969"/>
          </a:xfrm>
          <a:prstGeom prst="rect">
            <a:avLst/>
          </a:prstGeom>
        </p:spPr>
      </p:pic>
      <p:pic>
        <p:nvPicPr>
          <p:cNvPr id="11" name="Picture 10" descr="A picture containing icon&#10;&#10;Description automatically generated">
            <a:extLst>
              <a:ext uri="{FF2B5EF4-FFF2-40B4-BE49-F238E27FC236}">
                <a16:creationId xmlns:a16="http://schemas.microsoft.com/office/drawing/2014/main" id="{E9DB8E59-5276-B664-AE72-5D31271AB26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4031" y="1453710"/>
            <a:ext cx="386324" cy="33411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21971BB-6D3D-63CB-2DE5-47370DD2482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36146" y="1865183"/>
            <a:ext cx="394679" cy="451785"/>
          </a:xfrm>
          <a:prstGeom prst="rect">
            <a:avLst/>
          </a:prstGeom>
        </p:spPr>
      </p:pic>
      <p:pic>
        <p:nvPicPr>
          <p:cNvPr id="18" name="Picture 17" descr="Icon&#10;&#10;Description automatically generated">
            <a:extLst>
              <a:ext uri="{FF2B5EF4-FFF2-40B4-BE49-F238E27FC236}">
                <a16:creationId xmlns:a16="http://schemas.microsoft.com/office/drawing/2014/main" id="{63BC28B7-786E-EB1D-2DED-840D875D66A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270" y="2937730"/>
            <a:ext cx="548704" cy="437248"/>
          </a:xfrm>
          <a:prstGeom prst="rect">
            <a:avLst/>
          </a:prstGeom>
        </p:spPr>
      </p:pic>
      <p:pic>
        <p:nvPicPr>
          <p:cNvPr id="19" name="Picture 18" descr="Logo&#10;&#10;Description automatically generated">
            <a:extLst>
              <a:ext uri="{FF2B5EF4-FFF2-40B4-BE49-F238E27FC236}">
                <a16:creationId xmlns:a16="http://schemas.microsoft.com/office/drawing/2014/main" id="{C1628460-AE53-2AB3-21E7-11284A7E0E3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622" y="1221696"/>
            <a:ext cx="503808" cy="503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284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11" descr="A picture containing funnel chart&#10;&#10;Description automatically generated">
            <a:extLst>
              <a:ext uri="{FF2B5EF4-FFF2-40B4-BE49-F238E27FC236}">
                <a16:creationId xmlns:a16="http://schemas.microsoft.com/office/drawing/2014/main" id="{06BB9BEF-FB5B-4697-07D1-487528171F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75"/>
          <a:stretch/>
        </p:blipFill>
        <p:spPr>
          <a:xfrm>
            <a:off x="482600" y="643467"/>
            <a:ext cx="8178799" cy="5571066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F169BD-0BC4-68BE-AA1B-20587F179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55701"/>
            <a:ext cx="185737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Aft>
                <a:spcPts val="600"/>
              </a:spcAft>
            </a:pPr>
            <a:r>
              <a:rPr lang="en-US" sz="12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© Anis </a:t>
            </a:r>
            <a:r>
              <a:rPr lang="en-US" sz="12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Boubaker</a:t>
            </a:r>
            <a:endParaRPr lang="en-US" sz="12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8" name="Graphic 17" descr="Badge 1 with solid fill">
            <a:extLst>
              <a:ext uri="{FF2B5EF4-FFF2-40B4-BE49-F238E27FC236}">
                <a16:creationId xmlns:a16="http://schemas.microsoft.com/office/drawing/2014/main" id="{C2FC30B6-E543-3B84-2129-6DE51CE9D0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28863" y="4839758"/>
            <a:ext cx="914400" cy="914400"/>
          </a:xfrm>
          <a:prstGeom prst="rect">
            <a:avLst/>
          </a:prstGeom>
        </p:spPr>
      </p:pic>
      <p:pic>
        <p:nvPicPr>
          <p:cNvPr id="21" name="Graphic 20" descr="Badge with solid fill">
            <a:extLst>
              <a:ext uri="{FF2B5EF4-FFF2-40B4-BE49-F238E27FC236}">
                <a16:creationId xmlns:a16="http://schemas.microsoft.com/office/drawing/2014/main" id="{B9D6900D-97A8-512F-6F24-8D349806DA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6704" y="3992297"/>
            <a:ext cx="914400" cy="914400"/>
          </a:xfrm>
          <a:prstGeom prst="rect">
            <a:avLst/>
          </a:prstGeom>
        </p:spPr>
      </p:pic>
      <p:pic>
        <p:nvPicPr>
          <p:cNvPr id="27" name="Graphic 26" descr="Badge 3 with solid fill">
            <a:extLst>
              <a:ext uri="{FF2B5EF4-FFF2-40B4-BE49-F238E27FC236}">
                <a16:creationId xmlns:a16="http://schemas.microsoft.com/office/drawing/2014/main" id="{90A1D612-06D0-A432-DD65-80BE29C6205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819784" y="3144836"/>
            <a:ext cx="914400" cy="9144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5756D63-74BD-C903-35AB-1346878C76D7}"/>
              </a:ext>
            </a:extLst>
          </p:cNvPr>
          <p:cNvSpPr txBox="1"/>
          <p:nvPr/>
        </p:nvSpPr>
        <p:spPr>
          <a:xfrm>
            <a:off x="4217185" y="5112292"/>
            <a:ext cx="1998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b="1" dirty="0">
                <a:latin typeface="Avenir Book" panose="02000503020000020003" pitchFamily="2" charset="0"/>
                <a:ea typeface="Ayuthaya" pitchFamily="2" charset="-34"/>
                <a:cs typeface="Ayuthaya" pitchFamily="2" charset="-34"/>
              </a:rPr>
              <a:t>Structure de base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28AD87-8B97-AB0F-3266-4D2DB6D9B285}"/>
              </a:ext>
            </a:extLst>
          </p:cNvPr>
          <p:cNvSpPr txBox="1"/>
          <p:nvPr/>
        </p:nvSpPr>
        <p:spPr>
          <a:xfrm>
            <a:off x="4217185" y="4262900"/>
            <a:ext cx="1611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b="1" dirty="0">
                <a:latin typeface="Avenir Book" panose="02000503020000020003" pitchFamily="2" charset="0"/>
                <a:ea typeface="Ayuthaya" pitchFamily="2" charset="-34"/>
                <a:cs typeface="Ayuthaya" pitchFamily="2" charset="-34"/>
              </a:rPr>
              <a:t>Allure visuelle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4328A8B-152F-D38F-912B-C871CEEF3C14}"/>
              </a:ext>
            </a:extLst>
          </p:cNvPr>
          <p:cNvSpPr txBox="1"/>
          <p:nvPr/>
        </p:nvSpPr>
        <p:spPr>
          <a:xfrm>
            <a:off x="4217185" y="3439330"/>
            <a:ext cx="2318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b="1" dirty="0">
                <a:latin typeface="Avenir Book" panose="02000503020000020003" pitchFamily="2" charset="0"/>
                <a:ea typeface="Ayuthaya" pitchFamily="2" charset="-34"/>
                <a:cs typeface="Ayuthaya" pitchFamily="2" charset="-34"/>
              </a:rPr>
              <a:t>Aspects fonctionnels</a:t>
            </a:r>
          </a:p>
        </p:txBody>
      </p:sp>
      <p:pic>
        <p:nvPicPr>
          <p:cNvPr id="41" name="Picture 40" descr="A picture containing text, first-aid kit, sign&#10;&#10;Description automatically generated">
            <a:extLst>
              <a:ext uri="{FF2B5EF4-FFF2-40B4-BE49-F238E27FC236}">
                <a16:creationId xmlns:a16="http://schemas.microsoft.com/office/drawing/2014/main" id="{3C2315A0-2D06-6BF7-C696-051E6036E27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144" y="4985808"/>
            <a:ext cx="622300" cy="622300"/>
          </a:xfrm>
          <a:prstGeom prst="rect">
            <a:avLst/>
          </a:prstGeom>
        </p:spPr>
      </p:pic>
      <p:pic>
        <p:nvPicPr>
          <p:cNvPr id="43" name="Picture 42" descr="Icon&#10;&#10;Description automatically generated">
            <a:extLst>
              <a:ext uri="{FF2B5EF4-FFF2-40B4-BE49-F238E27FC236}">
                <a16:creationId xmlns:a16="http://schemas.microsoft.com/office/drawing/2014/main" id="{F172AA1A-E4D8-E7DB-D065-059420AB072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1894" y="4061183"/>
            <a:ext cx="550800" cy="776628"/>
          </a:xfrm>
          <a:prstGeom prst="rect">
            <a:avLst/>
          </a:prstGeom>
        </p:spPr>
      </p:pic>
      <p:pic>
        <p:nvPicPr>
          <p:cNvPr id="47" name="Picture 46" descr="Logo&#10;&#10;Description automatically generated">
            <a:extLst>
              <a:ext uri="{FF2B5EF4-FFF2-40B4-BE49-F238E27FC236}">
                <a16:creationId xmlns:a16="http://schemas.microsoft.com/office/drawing/2014/main" id="{0F0F476C-45BE-D8E9-135C-504A87279E05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69" r="14269"/>
          <a:stretch/>
        </p:blipFill>
        <p:spPr>
          <a:xfrm>
            <a:off x="6816144" y="3192676"/>
            <a:ext cx="612000" cy="856402"/>
          </a:xfrm>
          <a:prstGeom prst="rect">
            <a:avLst/>
          </a:prstGeom>
        </p:spPr>
      </p:pic>
      <p:pic>
        <p:nvPicPr>
          <p:cNvPr id="49" name="Picture 48" descr="Shape&#10;&#10;Description automatically generated with low confidence">
            <a:extLst>
              <a:ext uri="{FF2B5EF4-FFF2-40B4-BE49-F238E27FC236}">
                <a16:creationId xmlns:a16="http://schemas.microsoft.com/office/drawing/2014/main" id="{689E8744-3E7B-FFFE-D830-C9C6DCFA736F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337" b="34335"/>
          <a:stretch/>
        </p:blipFill>
        <p:spPr>
          <a:xfrm>
            <a:off x="4377876" y="2447816"/>
            <a:ext cx="1290599" cy="313969"/>
          </a:xfrm>
          <a:prstGeom prst="rect">
            <a:avLst/>
          </a:prstGeom>
        </p:spPr>
      </p:pic>
      <p:pic>
        <p:nvPicPr>
          <p:cNvPr id="51" name="Picture 50" descr="A picture containing icon&#10;&#10;Description automatically generated">
            <a:extLst>
              <a:ext uri="{FF2B5EF4-FFF2-40B4-BE49-F238E27FC236}">
                <a16:creationId xmlns:a16="http://schemas.microsoft.com/office/drawing/2014/main" id="{7DB95FAD-CE88-B843-45AD-68ACA26B753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8458" y="2798948"/>
            <a:ext cx="386324" cy="334118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7C5C205A-F415-C80D-2C34-786A79EA813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089756" y="2380976"/>
            <a:ext cx="394679" cy="451785"/>
          </a:xfrm>
          <a:prstGeom prst="rect">
            <a:avLst/>
          </a:prstGeom>
        </p:spPr>
      </p:pic>
      <p:pic>
        <p:nvPicPr>
          <p:cNvPr id="55" name="Picture 54" descr="Icon&#10;&#10;Description automatically generated">
            <a:extLst>
              <a:ext uri="{FF2B5EF4-FFF2-40B4-BE49-F238E27FC236}">
                <a16:creationId xmlns:a16="http://schemas.microsoft.com/office/drawing/2014/main" id="{923CBAF0-A26A-16A8-D8A5-91F1EDA7540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3315" y="2633399"/>
            <a:ext cx="548704" cy="437248"/>
          </a:xfrm>
          <a:prstGeom prst="rect">
            <a:avLst/>
          </a:prstGeom>
        </p:spPr>
      </p:pic>
      <p:pic>
        <p:nvPicPr>
          <p:cNvPr id="57" name="Picture 56" descr="Logo&#10;&#10;Description automatically generated">
            <a:extLst>
              <a:ext uri="{FF2B5EF4-FFF2-40B4-BE49-F238E27FC236}">
                <a16:creationId xmlns:a16="http://schemas.microsoft.com/office/drawing/2014/main" id="{07C6DB7D-6730-5554-1B48-5F8954AB6DC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2106" y="2712215"/>
            <a:ext cx="503808" cy="503808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4BA21AB1-52BE-A6BE-DF00-33EB2F3BB642}"/>
              </a:ext>
            </a:extLst>
          </p:cNvPr>
          <p:cNvSpPr txBox="1"/>
          <p:nvPr/>
        </p:nvSpPr>
        <p:spPr>
          <a:xfrm>
            <a:off x="423246" y="44734"/>
            <a:ext cx="82381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2800" b="1" dirty="0">
                <a:latin typeface="Baskerville" panose="02020502070401020303" pitchFamily="18" charset="0"/>
                <a:ea typeface="Baskerville" panose="02020502070401020303" pitchFamily="18" charset="0"/>
              </a:rPr>
              <a:t>Un amalgame de préoccupations et de langages</a:t>
            </a:r>
          </a:p>
        </p:txBody>
      </p:sp>
    </p:spTree>
    <p:extLst>
      <p:ext uri="{BB962C8B-B14F-4D97-AF65-F5344CB8AC3E}">
        <p14:creationId xmlns:p14="http://schemas.microsoft.com/office/powerpoint/2010/main" val="798770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57F32-7640-65D8-DF86-AB5DD3F75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Le développement Web moderne</a:t>
            </a:r>
          </a:p>
        </p:txBody>
      </p:sp>
      <p:pic>
        <p:nvPicPr>
          <p:cNvPr id="6" name="Content Placeholder 5" descr="Graphical user interface, application&#10;&#10;Description automatically generated">
            <a:hlinkClick r:id="rId2"/>
            <a:extLst>
              <a:ext uri="{FF2B5EF4-FFF2-40B4-BE49-F238E27FC236}">
                <a16:creationId xmlns:a16="http://schemas.microsoft.com/office/drawing/2014/main" id="{9B003853-7239-07A1-1895-BD565F16F7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367" y="2120900"/>
            <a:ext cx="7229265" cy="4051300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B10D39-E280-FB17-F8B8-49D40F00C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Anis Boubaker</a:t>
            </a:r>
            <a:endParaRPr lang="en-US" dirty="0"/>
          </a:p>
        </p:txBody>
      </p:sp>
      <p:pic>
        <p:nvPicPr>
          <p:cNvPr id="12" name="Picture 11" descr="Icon&#10;&#10;Description automatically generated">
            <a:hlinkClick r:id="rId2"/>
            <a:extLst>
              <a:ext uri="{FF2B5EF4-FFF2-40B4-BE49-F238E27FC236}">
                <a16:creationId xmlns:a16="http://schemas.microsoft.com/office/drawing/2014/main" id="{57C561C4-C34D-0885-3254-E4A6AB8A1F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5075" y="3429000"/>
            <a:ext cx="1925638" cy="1925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888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Diagram&#10;&#10;Description automatically generated with low confidence">
            <a:extLst>
              <a:ext uri="{FF2B5EF4-FFF2-40B4-BE49-F238E27FC236}">
                <a16:creationId xmlns:a16="http://schemas.microsoft.com/office/drawing/2014/main" id="{6DDBCFF6-EDC2-33C5-37DC-C1661B41F9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74936"/>
            <a:ext cx="9296631" cy="4708128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112EE2-B41F-8B30-8568-404BB1509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Anis Boubaker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9909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{EDE99199-45A2-E24B-916A-4F1151AF4EF7}tf10001070</Template>
  <TotalTime>2139</TotalTime>
  <Words>118</Words>
  <Application>Microsoft Macintosh PowerPoint</Application>
  <PresentationFormat>On-screen Show (4:3)</PresentationFormat>
  <Paragraphs>24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Avenir Book</vt:lpstr>
      <vt:lpstr>Baskerville</vt:lpstr>
      <vt:lpstr>Calibri</vt:lpstr>
      <vt:lpstr>Rockwell</vt:lpstr>
      <vt:lpstr>Rockwell Condensed</vt:lpstr>
      <vt:lpstr>Rockwell Extra Bold</vt:lpstr>
      <vt:lpstr>Wingdings</vt:lpstr>
      <vt:lpstr>Wood Type</vt:lpstr>
      <vt:lpstr>TCH056 – Programmation Web Ch1 - Introduction</vt:lpstr>
      <vt:lpstr>Plan de la séance</vt:lpstr>
      <vt:lpstr>Histoire du Web</vt:lpstr>
      <vt:lpstr>Technologies et langages du Web</vt:lpstr>
      <vt:lpstr>PowerPoint Presentation</vt:lpstr>
      <vt:lpstr>Le développement Web moderne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Anis Boubaker</dc:creator>
  <cp:lastModifiedBy>Les ateliers techniques</cp:lastModifiedBy>
  <cp:revision>170</cp:revision>
  <cp:lastPrinted>2019-09-06T18:25:40Z</cp:lastPrinted>
  <dcterms:created xsi:type="dcterms:W3CDTF">2019-09-06T18:25:40Z</dcterms:created>
  <dcterms:modified xsi:type="dcterms:W3CDTF">2023-02-07T16:36:32Z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1033-11.1.0.8722</vt:lpwstr>
  </property>
</Properties>
</file>